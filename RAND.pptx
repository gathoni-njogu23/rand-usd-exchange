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7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05" autoAdjust="0"/>
    <p:restoredTop sz="94364" autoAdjust="0"/>
  </p:normalViewPr>
  <p:slideViewPr>
    <p:cSldViewPr snapToGrid="0">
      <p:cViewPr varScale="1">
        <p:scale>
          <a:sx n="69" d="100"/>
          <a:sy n="69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47C33-EABB-4652-B0B2-1E0A9987C73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65ABB-7540-4D66-A1B6-07EB9841F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201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47C33-EABB-4652-B0B2-1E0A9987C73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CFD65ABB-7540-4D66-A1B6-07EB9841F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35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47C33-EABB-4652-B0B2-1E0A9987C73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65ABB-7540-4D66-A1B6-07EB9841F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925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47C33-EABB-4652-B0B2-1E0A9987C73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65ABB-7540-4D66-A1B6-07EB9841F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618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47C33-EABB-4652-B0B2-1E0A9987C73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65ABB-7540-4D66-A1B6-07EB9841F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623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47C33-EABB-4652-B0B2-1E0A9987C73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65ABB-7540-4D66-A1B6-07EB9841F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589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47C33-EABB-4652-B0B2-1E0A9987C73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65ABB-7540-4D66-A1B6-07EB9841F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386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47C33-EABB-4652-B0B2-1E0A9987C73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65ABB-7540-4D66-A1B6-07EB9841F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187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47C33-EABB-4652-B0B2-1E0A9987C73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65ABB-7540-4D66-A1B6-07EB9841F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32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47C33-EABB-4652-B0B2-1E0A9987C73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65ABB-7540-4D66-A1B6-07EB9841F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400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47C33-EABB-4652-B0B2-1E0A9987C73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65ABB-7540-4D66-A1B6-07EB9841F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1129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47C33-EABB-4652-B0B2-1E0A9987C73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65ABB-7540-4D66-A1B6-07EB9841F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9503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47C33-EABB-4652-B0B2-1E0A9987C73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65ABB-7540-4D66-A1B6-07EB9841F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449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47C33-EABB-4652-B0B2-1E0A9987C73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65ABB-7540-4D66-A1B6-07EB9841F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149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47C33-EABB-4652-B0B2-1E0A9987C73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65ABB-7540-4D66-A1B6-07EB9841F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9383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47C33-EABB-4652-B0B2-1E0A9987C73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65ABB-7540-4D66-A1B6-07EB9841F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3281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47C33-EABB-4652-B0B2-1E0A9987C73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65ABB-7540-4D66-A1B6-07EB9841F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92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B047C33-EABB-4652-B0B2-1E0A9987C73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FD65ABB-7540-4D66-A1B6-07EB9841F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860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99062" y="1380068"/>
            <a:ext cx="9892937" cy="2616199"/>
          </a:xfrm>
        </p:spPr>
        <p:txBody>
          <a:bodyPr/>
          <a:lstStyle/>
          <a:p>
            <a:r>
              <a:rPr lang="en-US" dirty="0" smtClean="0"/>
              <a:t>RAND/US EXCHANGE RATE PREDICTION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Presented </a:t>
            </a:r>
            <a:r>
              <a:rPr lang="en-US" dirty="0" err="1" smtClean="0"/>
              <a:t>by:Maureen</a:t>
            </a:r>
            <a:r>
              <a:rPr lang="en-US" dirty="0" smtClean="0"/>
              <a:t> </a:t>
            </a:r>
            <a:r>
              <a:rPr lang="en-US" dirty="0" err="1" smtClean="0"/>
              <a:t>Gathoni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393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idx="1"/>
          </p:nvPr>
        </p:nvSpPr>
        <p:spPr bwMode="auto">
          <a:xfrm>
            <a:off x="1254034" y="3380125"/>
            <a:ext cx="10502538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Currency exchange rates, such as those between the US dollar and the South African rand, are always fluctuating. These variations may occur every day or even within a few hours. Even a slight fluctuation in the exchange rate can have a big impact on expenses and earnings for companies that import or export goods.</a:t>
            </a:r>
          </a:p>
        </p:txBody>
      </p:sp>
    </p:spTree>
    <p:extLst>
      <p:ext uri="{BB962C8B-B14F-4D97-AF65-F5344CB8AC3E}">
        <p14:creationId xmlns:p14="http://schemas.microsoft.com/office/powerpoint/2010/main" val="2630702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/>
              <a:t>main challenge is that exchange rates are volatile and hard to anticipate. Small shifts can have a big impact, and traditional methods of just looking at past rates aren’t always reliable. That’s why we need a systematic, data-driven approach to forecast these rates in advance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97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1.To </a:t>
            </a:r>
            <a:r>
              <a:rPr lang="en-US" dirty="0"/>
              <a:t>learn on the exchange rates patterns using historical data so as to give guided decisions</a:t>
            </a:r>
          </a:p>
          <a:p>
            <a:endParaRPr lang="en-US" dirty="0"/>
          </a:p>
          <a:p>
            <a:r>
              <a:rPr lang="en-US" dirty="0"/>
              <a:t>2.To find a model that will generalize and give accurate results and predict 7 days in advance to help in planning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113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Data </a:t>
            </a:r>
            <a:r>
              <a:rPr lang="en-US" b="1" dirty="0"/>
              <a:t>Overview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6927" y="1724297"/>
            <a:ext cx="5974581" cy="3971108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For our data we had 2 main columns (rand /dollar daily and the date column)&amp;276 rows</a:t>
            </a:r>
          </a:p>
          <a:p>
            <a:r>
              <a:rPr lang="en-US" dirty="0" smtClean="0"/>
              <a:t>Source of the data was provided by our mentor</a:t>
            </a:r>
          </a:p>
          <a:p>
            <a:r>
              <a:rPr lang="en-US" dirty="0" smtClean="0"/>
              <a:t>Date range (2023-2024 years ,months may-</a:t>
            </a:r>
            <a:r>
              <a:rPr lang="en-US" dirty="0" err="1" smtClean="0"/>
              <a:t>dec</a:t>
            </a:r>
            <a:r>
              <a:rPr lang="en-US" dirty="0" smtClean="0"/>
              <a:t> 2023 and </a:t>
            </a:r>
            <a:r>
              <a:rPr lang="en-US" dirty="0" err="1" smtClean="0"/>
              <a:t>jan</a:t>
            </a:r>
            <a:r>
              <a:rPr lang="en-US" dirty="0" smtClean="0"/>
              <a:t> –may 2024)</a:t>
            </a:r>
          </a:p>
          <a:p>
            <a:r>
              <a:rPr lang="en-US" dirty="0" smtClean="0"/>
              <a:t>No missing values </a:t>
            </a:r>
            <a:r>
              <a:rPr lang="en-US" dirty="0" err="1" smtClean="0"/>
              <a:t>present,no</a:t>
            </a:r>
            <a:r>
              <a:rPr lang="en-US" dirty="0" smtClean="0"/>
              <a:t> duplicates ,outliers were seen but where handled by interquartile method .Slight but not urgent  skewness seen so no log transformation was needed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4666" y="1562099"/>
            <a:ext cx="3074625" cy="282157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5187" y="4462052"/>
            <a:ext cx="3433582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672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320040"/>
            <a:ext cx="10018713" cy="109074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Objective:1WHAT IS AFFECTING EXCHANGE RATE?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idx="1"/>
          </p:nvPr>
        </p:nvSpPr>
        <p:spPr>
          <a:xfrm>
            <a:off x="1357745" y="1615439"/>
            <a:ext cx="10145280" cy="4876801"/>
          </a:xfrm>
        </p:spPr>
        <p:txBody>
          <a:bodyPr/>
          <a:lstStyle/>
          <a:p>
            <a:r>
              <a:rPr lang="en-US" dirty="0" smtClean="0"/>
              <a:t>Seasonality-do we have a pattern of how exchange rate is behaving overtime?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1.do we have a full repetitive cycle of years and months?</a:t>
            </a:r>
          </a:p>
          <a:p>
            <a:pPr marL="0" indent="0">
              <a:buNone/>
            </a:pPr>
            <a:r>
              <a:rPr lang="en-US" dirty="0" smtClean="0"/>
              <a:t>     2.is our mean stationary or not?     </a:t>
            </a:r>
          </a:p>
          <a:p>
            <a:r>
              <a:rPr lang="en-US" dirty="0" smtClean="0"/>
              <a:t>Autocorrelation/volatility-does yesterday’s exchange rate affect todays exchange rate?</a:t>
            </a:r>
            <a:endParaRPr lang="en-US" dirty="0"/>
          </a:p>
        </p:txBody>
      </p:sp>
      <p:sp>
        <p:nvSpPr>
          <p:cNvPr id="6" name="AutoShape 2" descr="data:image/png;base64,iVBORw0KGgoAAAANSUhEUgAAAYgAAAEWCAYAAAB8LwAVAAAAOXRFWHRTb2Z0d2FyZQBNYXRwbG90bGliIHZlcnNpb24zLjMuMSwgaHR0cHM6Ly9tYXRwbG90bGliLm9yZy/d3fzzAAAACXBIWXMAAAsTAAALEwEAmpwYAAA34klEQVR4nO3deXxU9bn48c+TBRKWZNglG7gGEUkCaK14a+uGtda1tuKG1Wo3W+vtpZXe29bW2+ot2ltte90Vl2p/Vimt1opW61IREBL2RVQgJGEnkwTInuf3xzkThjCTTJKZOTPJ83695sXMmTPnPBOSeeac5zzfr6gqxhhjTEcpXgdgjDEmMVmCMMYYE5IlCGOMMSFZgjDGGBOSJQhjjDEhWYIwxhgTkiUIY/ogEZknIv/tdRw9JSLjRURFJM3rWPozSxCmSyLylohUi8hAr2PprVAfnB0/jETkDBFZJCI1IrJPRN4TkVPc564XkVYR2e/eNovIEyJyQoh9XSUiz4rIg0HrB24H3X1+Jmh9EZFPRGRdiG29JSIN7mv3iMh8ERkb/Z/Qkdw4dwZ/WItImojsEpGoNFKJyBYROSca2zLRYwnCdEpExgP/BihwUQy2n1DfEEUkC3gZ+C0wHMgFfgY0Bq32vqoOAbKBc4B6YLmITOqwuQuAV1T1G6o6JPgGvAj8E3gvaP3PAKOBYwIJqYNb3NceBwwB7unl2+0OP/D5oMcXANVx3L/xgCUI05XrgMXAPGAWgIgMFBF/8AeiiIwSkXoRGe0+vlBEVrjrLRKRyUHrbhGRH4rIKuCA+230dhH5WETqRGSdiFwatH6qiNzrfnPeLCK3dPjGny0ij4nIdhGpFJH/FpHUHr7fEwBU9TlVbVXVelV9TVVXdVzRff5jVf0W8DZwR1DMKcC5wKsdXyci3wTOAmaqamvQU7OAvwCvuPdDUlU/sAAo7uK9jBSR192f6dsiMs7d/+9F5N4OMb0kIt/rZFtP4/wuBFwHPNVhGzki8lf3qOsjEbkp6Lk7ROR5EXnKjWetiExzn3saKABeco+QfhC02atFpNz9v//PLt6viTZVtZvdwt6Aj4BvAVOBZmCMu/xx4BdB630beNW9PwXYBXwKSMX5sNsCDHSf3wKsAPKBTHfZFUAOzpeWrwAHgLHuc98A1gF5wDDgHzhHNGnu8wuAh4DBON/AlwJfD/N+5gH/3WHZ+MD2gCxgL/AkzjfmYR3WvR74V4jt3gDsDHp8Gs6RRsf1pgH7gTM6LB8E1OJ8M78c2AMMCHr+LeBr7v0R7s/gL538v80D6nCOSgYC9wXiBk4FqoAU9/FI4GDg/zbEthSYBOwEfO5tp7tMg9Z7G/g/IAMnee0GznafuwNocN9fKnAXsDjotVuAc0L8nzwCZAJFOEdxJ3r9N9Gfbp4HYLfEvQFn4CSFke7jDcBt7v1zgE+C1n0PuM69/wBwZ4dtbQTOdO9vAW7oYt8rgIvd+28S9IHv7jvwgT7G/eDIDHp+JvDPMNudRycJwn18orteBdAC/JVDifF6QieI84HmoMd3Aj/usM5w973/e4jXX+N+oKa5H+h+4NKg599yP8Rr3FhXAAWd/PzmAX8MejwEaAXy3cfrgXPd+7fgnAoLty3FOa31KPB1nIT9iLtM3XXy3e0PDXrdXcA89/4dwD+CnpsI1Ac93kLoBJEXtGwpcKXXfxf96WanmExnZgGvqeoe9/GzHDr18SaQKSKfck9dFAN/dp8bB3zfPb3kFxE/zgdITtC2twXvSESuCzol5cf5djrSfTqnw/rB98cB6cD2oNc+hHMkEUqLu36wdKDNvaGq61X1elXNc+PIAX4TZnsBucC+oMcX4JwqCrw/AZ4Blqvqr0O8fhbwvKq2qGojMJ8jTzN9V1Wzgck4R1J5XcTU/nNS1f1ufIH/gydxkhLuv093sS1wTildR4jTS+5296lqXdCyrTg/l4AdQfcPAhkR1KA6vmZIBHGaKEmoAqFJHCKSCXwZSBWRwB/pQMAnIkWqulJEnsf5tr4TeDnow2EbzumnX3Syi/arX9wE8whwNs5pmVYRWQGIu8p2Dv8wzA+6vw3nCGKkqrZE8NbKgZM6LDsa2KaqbUcEqbpBRObhfHPuzKXAu+77OQoYC5QGPf9fON+4p3V8oYjk4dQkThWRy93Fg3A+QEcGJehATKvFuRLr9yIyJfAVPoT2n5OIDME5gqlyFz0DrBGRIpwjpgVdvD/c9zcW5//uX8CxQc9VAcNFZGjQ70EBUBnBdiHo98EkDjuCMOFcgnPKYCLO0UExzgfJuxwqVj6LUy+42r0f8AjwDffoQkRksIh8QUSGhtnXYJwPiN0AIvJVnG/uAc8Dt4pIroj4gB8GnlDV7cBrwL0ikiUiKSJyrIicGWZfLwJfEJHz3OJ3Ds6H9x/dfU8Qke+7H9qISD5OElzccUPu648Wkd8Cn8W52gmco4dXAx/c7uWbPwAuV9XaEDFdC3wIFHLoZ30CzimumWHex5M4R0mdXVl2gTiX7A7AOeW1RFW3AahqBfABzpHDi6pa38l2cF+jwBeBizomJXe7i4C7RCTDvSjhRuAPXW3XtRM4JsJ1TZxYgjDhzAKeUNVyVd0RuAG/w7myJE1Vl+AUk3OAvwdeqKrLgJvcdatxCt3Xh9uRqq4D7gXex/mgOJnDL/98BCcJrALKcE7dtOAkMHAS1gCcQnY18ALON91Q+1qL86F7F84pl/eBJRz6cK/DKa4vEZEDOIlhDfD9oM18WkT24xSV38IpbJ+iqqvd5w87vQT8CKfQ+r4c2Q9xNc7P+v+Cf87uz/pBwlzNpKpNwP3Aj0M973oW+Kn7PqfiJPJgT+L8rCM5vRTY71r3ZxjKTJzaQRXO6cafqurrEW76LuC/3NOE/xFpPCa2JPzRqTGJSUQ+DzyoquO8jqUj95z6DuBYVa3xOp7OiNOk9wwwPtTpNWPsCMIkPBHJFJEL3H6JXJxvxX/u6nUeGY5z9VKiJ4d04FbgUUsOJhw7gjAJT0QG4VxjPwGna/lvwK1hzuebLojIicAyYCVwvv0cTTiWIIwxxoRkp5iMMcaE1Kf6IEaOHKnjx4/3OgxjjEkay5cv36Oqo0I916cSxPjx41m2bJnXYRhjTNIQka3hnrNTTMYYY0KyBGGMMSYkSxDGGGNCsgRhjDEmJEsQxhhjQupTVzEZY0xHC8oqmbtwI1X+enJ8mcyeUcglJbldv9BYgjDG9F0LyiqZM3819c3OwL+V/nrmzHcG3bUk0TU7xWSM6bPmLtzYnhwC6ptbmbtwo0cRJRdLEMaYPqvKH3oepHDLzeEsQRhj+qRFH+1BJPRzOb7M+AaTpKwGYYzpU1pa27jvjU387p8fMWrIAGrqW2hsOTTlRWZ6KrNnFHoYYfKwIwhjTJ9R5a/nqkeW8Ns3P+LyKXm8Nftz/M/lkxk5ZAAAwwcP4K7LTrYCdYTsCMIY0ye8vm4ns19YSXNLG//7lSIuLckDnKuVzp90FCffsZAvT8u35NANliCMMUmtsaWVu/++gSfe28JJOVn87qopHD1y8GHrZKSnMjEnm9Lyao+iTE6WIIwxSWvzngN857lS1lTWcv3p45lzwQQGpqWGXHdKgY/nlpbT3NpGeqqdXY+E/ZSMMUnpLysqufD+d9m2r56Hr53KHRedFDY5AEwpGEZDcxsbttfFMcrkZkcQxpikcrCphTv+upbnl1Uwbdww7p9ZEtFlq1PGDQOgtLyak/OyYx1mn2BHEMaYpLFhRy0X/e49/rS8gu+cdRx/vPm0iHsacrIzGD10oNUhusGOIIwxCU9VeXZpOT9/aR1Zmek8c+OnmH7cyG5tQ0SYUjDMEkQ3WIIwxiS0mvpmfjR/NX9bvZ1/O34kv/5yMaOGDuzRtqaM8/Hq2h3srmvs8Tb6k5idYhKRx0Vkl4isCVpWJCLvi8hqEXlJRLLCvPZ8EdkoIh+JyO2xitEYk9jKyqv5wv3vsnDtDm7//ASe/Oqpvfpgn1IwrH27pmuxrEHMA87vsOxR4HZVPRn4MzC744tEJBX4PfB5YCIwU0QmxjBOY0yCaWtTHnr7Y6548H1U4flvfJpvnHksKSlhBleK0KTcbNJThdJyf3QC7eNidopJVd8RkfEdFhcC77j3XwcWAj/usM6pwEeq+gmAiPwRuBhYF6tY48UmLjGma3v2N/L951fy9oe7+fyko7j78slkZ6ZHZdvWMNc98b6KaQ1wkXv/CiA/xDq5wLagxxXuspBE5GYRWSYiy3bv3h21QKMtMHFJpb8e5dDEJQvKKr0OzZiEseijPVxw37u8/8le7rxkEv939ZSoJYeAKQU+VlX4aW5t63rlfi7eCeIG4NsishwYCjSFWCfUMaSG26CqPqyq01R12qhRo6IUZvTZxCXGhNfS2savX9vI1Y8tYUhGGgu+NZ1rTxuHhBuvuxesYS5ycb2KSVU3AOcBiMgJwBdCrFbB4UcWeUBV7KOLLZu4xJjQttfUc+tzK1i6ZR9fmprHzy8+iUEDYvfRZA1zkYtrghCR0aq6S0RSgP8CHgyx2gfA8SJyNFAJXAlcFccwYyLHl0lliGQwNjvDg2iM8U5wLW7Y4AHUN7WQInLYCKyxFNwwN+v08THfXzKL5WWuzwHvA4UiUiEiN+JckfQhsAHnqOAJd90cEXkFQFVbgFtwCtjrgedVdW2s4oyX/zjvBEJdgJGdmU5Dh1NPxvRVHWtx+w400dDSxq3nHB+X5ADWMNcdMUsQqjpTVceqarqq5qnqY6p6n6qe4N5uV1V1161S1QuCXvuKu86xqvqLWMUYT5kDUmlTyM5MQ4BcXyZXTMtj/Y46vv70cksSpl8IVYtThScXbY1rHFPG+di2r57ddY1x3W+ysU7qODjY1MLPX1rHhKOG8vJ3ziAtaKjhqQXDuH3+am56ahmPXDeNjPTwo1Eak+wSpRYXaJgrLa9mxklHxXXfycQG64uD3735EVU1Ddx5yaTDkgPAlacW8KvLJ/Ovj/Zw01PL7EjC9GnhBtaLdMC9aAk0zJVZw1ynLEHE2Ce79/PIu59w+ZQ8Thk/POQ6Xz4lvz1J3PjkB9Q3WZIwfdMV046sM2SmpzJ7RmFc47CGuchYgoghVeWnf11LRnoqt39+QqfrXjEtn3u+VMSij/dyw7wPONjUEqcojYmfpZv3MXhAKmOzM9prcXdddrInIwpYw1zXrAYRQwvX7uDdTXu444sTIxpg7PKpeaSkwPefX8kN8z7g8etPien14MbE07827WHRx3v5yYUTueGMo70OhykFw3jivS1s2F5n/RBh2BFEjAQXpq85bVzEr7u0JI///UoxSzfv4/onPuBAox1JmOSnqsxduIFcXyZXn1bgdTjA4Q1zJjRLEDHSWWG6KxcX5/KbK0tYvrWa659Yyn5LEibJLVy7g5UVNdx6zvGdzhsdTznZGYzJshnmOmMJIgYChenLpuSGLUx35aKiHO67spjScj/XP76UuobmKEdpTHy0tin3vPYhx44azGUJNHqxiFCSbw1znbEEEWXthem0VOZ8/sRebevCyTn8dmYJZdv8zLIkYZLU/NIKPtq1n/84r7DbR9OxZg1znUus/60+IFCY/v55J0RlSsMLTh7L768qYVVFDdc9vpRaSxImiTS2tPKbf2xicl42509KvIa04IY5cyRLEFHU08J0V86fNJbfXz2F1RU1XPvYUmrqLUmY5PDcknIq/fXMnlEYk6G7e+vQDHOWIEKxBBFFvSlMd2XGSUfxwDVTWVdVw7WPLaHmoCUJk9gONLbwu39+xGnHDOeM40Z6HU5IgYY566gOzRJElESjMN2VcyeO4cFrprJhex3XPLYE/8FQ8y0ZkxieeG8ze/Y38YPzJyTk0UOANcyFZwkiCqJZmO7K2SeO4aFrp7JxRx1XP2pJwiQm/8EmHnrnE845cUz7ef5EZTPMhWcJIgoChel/j1JhuiufmzCah6+byqZd+7nqkSVUH7AkYRLLA29/zP7GlriPsdQT1jAXniWIXgouTF8bxcJ0Vz5bOJpHrpvGR7v3c9WjS9hnScIkiJ21Dcx7bwuXFOdSeNRQr8PpkjXMhWcJopd+/8/YFaa7cuYJo3hs1jQ+2b2fqx5ZzN79di238d79b2yitU257ZwTvA4lIjbDXHiWIHrhk937efid2Bamu/Jvx4/i8etPYcveA1z1yBL2eJgkFpRVMv3uNzn69r8x/e43WVBW6Vksxhtb9x7g/32wjZmnFlAwYpDX4USspMAa5kKxBNFD8SxMd2X6cSN5fNYpbN13gJkPL/bkl7zjXMOV/nrmzF9tSaKf+d/XPyQtVfjOWcd5HUq3WMNcaJYgeijehemunH7cSJ64/lQqquuZ+chidtU1xHR/qkr1gSZWbPPzlxWV/OQva46Ya7i+uZW5CzfGNA6TODbsqOUvK6u4/vSjGZ2V4XU43WINc6HZZAM94FVhuiufPnYE8756Cl+d9wEzH17Mczed1qs/1NY2ZXtNPeV7D7J130G27j3Itn0H2brvAFv3HqSuoetRZuM917Dxzj0LNzJkYBrfPPNYr0PptvaGua1+r0NJKJYgeiBQmL5vZknCDT72qWNG8OQNp3L940v5wv3vkpqSws7aBnJ8mcyeUXjEzF0Nza2Uux/+W/ceaL+/bd9BKqrraQpqHkpPFfKGDaJg+CCmFAyjYLhzf9yIwVz/xFK21xx51DLWl1zfJE3PLN+6j3+s38XsGYVkD0r3OpwemVLg47ml5TS3tpGeYH/XXrEE0U2JUJjuyinjh3Pjvx3N/W981L6s0l/P7BdWsnDtDgYNSKPcPQrY1aFeMXRgGgUjBjFh7FDOO+koxo0Y1J4IcnyZpKaE7oj94fkTmDN/9RGnmXKyM+wPro9TVX716kZGDhnIV6eP9zqcHrMZ5o5kCaIbEqkw3ZUXlx9ZHG5uVf6+ZgdHZWVQMGIQnzlhFOOGD6JghHMUMG74IHyD0ns0LELgyGTuwo1U+evJ8WVQlOfjlTU7+MbTy/n91VPISE+MiWJMdL2zaQ9LNu/jZxedlNRT5AY3zFmCcCTv/6YHAoXpn0Y4x7SXwp37F2Dxj86OyT4vKck94hTW04u38pO/rOG6x5byyKxpZGcm5+kHE1pbmzOVaN6wTGaemhhTifZUcMPcrNPHex1OQrDj/gglamE6nBxfZreWx8q1p43j/itLKNtWzZUeXYJrYufVtTtYU1nLbeecwIC05P44sYa5IyX3/2gcedkx3ROzZxSS2eGUTmZ6qidj43yxKIdHZ53Clj0HuOLBRWzbdzDuMZjoa2lt457XNnL86CFHHDkmK2uYO1zif9IlgGQoTHd0SUkud112Mrm+TATI9WVy12Une/aHfOYJo3jma5+i+mAzlz+wiI07bOTMZDe/tJJPdh/g++cVhr14IdlYw9zhrAbRhWQqTHcUqibgpanjhvH81z/NtY8t4csPvc/j15/C1HGJPRS0Ca2huZXf/ONDivJ9zDhpjNfhRE1ww9yMkxJvitR4syOILiRax3SyKzxqKC9+83SGDUrnmkeX8PaHu70OyfTAH5aUU1XTwA8SdCrRnrKGucNZguhEshWmk0X+8EH86RunM37kYL725Ae8tLLK65BMN+xvbOH3//yI6ceNYHqCTiXaG1MKfKyqtBnmwBJEp5KtMJ1MRg0dyB9vPo3ifB/f/WMZTy/e6nVIJkKPvbuZfQeamD1jgtehxITNMHeIfeqFkYyF6WSTnZnOUzd8irMKR/PjBWv47RubUFWvwzKdqD7QxCPvfsKMk8ZQnO/zOpyYsBnmDrEEEUIyF6aTTeaAVB68diqXluRy7+sfcufL62lrsySRqB54+2MONLXw/fMSfyrRnrIZ5g6xq5hCSKaO6b4gPTWFe68owjconcff24z/YBP/86XJNn5TgtlR08CTi7ZwaUkuJ4xJ/KlEe8oa5g6xv8AOrDDtjZQU4ScXTuT7557A/LJKvvnMcho6DPxnvHXfG5to0+SZSrQ3phQMs4Y5LEEcIVCY/vnFVpiONxHhO2cfz52XTOKNDbu47rGl1DY0ex2WATbvOcDzy7Zx1akF5A9PnqlEe6qkwAdYHcI+AYMEF6ZPPdoK01659rRx3HdlCaXl1Vz5kI3flAh+/fqHDEhN4Zazjvc6lLiwGeYcMUsQIvK4iOwSkTVBy4pFZLGIrBCRZSJyapjX3iYia0VkjYg8JyIxn3XGCtOJ5aKiHB6dNY3NNn6T59ZW1fDSyipuOGN8v6nJWcOcI5ZHEPOA8zss+xXwM1UtBn7iPj6MiOQC3wWmqeokIBW4MlZBLiirZPrdb3L0nFd4d9Mezp04ut/8ESS6zxaObh+/6UsP2vhNXrn3tQ/Jykjj5s8k31SivWENczFMEKr6DrCv42Igy72fDYRroU0DMkUkDRjUyXq9sqCskjnzV1MZNHfCK2t2sKDsyMl2jDcC4zepwpcfer/fH/LH27It+3hzwy6+8dlj+91cHtYwF/8axPeAuSKyDbgHmNNxBVWtdJ8rB7YDNar6WrgNisjN7umqZbt3d29cn7kLNx4xRWZDcxtzF27s1nZMbAXGb/INSufqR5bwjo3fFBeBqURHDR3IV08/2utw4s4a5iJMECKSKSLR6Iz5JnCbquYDtwGPhdjXMOBi4GggBxgsIteE26CqPqyq01R12qhRo7oVTLhZ18ItN95xxm/6NONHDubGJz/g5VU2flOsvfXhbpZu2cd3zzqOzAH9b7pYa5iLIEGIyBeBFcCr7uNiEflrD/c3C5jv3v8TEKpIfQ6wWVV3q2qzu/7pPdxfpxJl1jUTmdFDM9rHb7rl2TKKfvYaR9/+N6bf/aadFoyytjZl7qsbyR+eyVdOSe6pRHvKGuYiO4K4A+eD3A+gqiuA8T3cXxVwpnv/LGBTiHXKgdNEZJA44wifDazv4f46lUizrpnIZGemc8XUfFIEauqbUaDSX88PX1zFc0u3xmyYjvaLGfpJQvrb6u2s217Lv5+b/FOJ9kZ/b5iLZKiNFlWt6e6Y7yLyHPBZYKSIVAA/BW4C7nOLzw3Aze66OcCjqnqBqi4RkReAUqAFKAMe7tbOIxSYTGfuwo1U+evJ8WUye0ZhQk2yY47kdPQevqyxpY0589fwoz+vYcjANLIy0hmakUZWZjpZGYc/Htr+OJ2szDSGZgQvSyOjw5eGwMUMgXpVpb+eOfNXA/TJ35Xm1jZ+/fqHFI4ZykVFfe/9dUdww1x/nEAokgSxRkSuAlJF5HicS1AXdfUiVZ0Z5qmpIdatAi4IevxTnIQSc4k265rpWmc1ou987jhqG1qobWimrqGF2vpmqvwNbGioo66hhbqG5iOSS0cD0lIOSyobdtTR2HL4pY71za3MXbixT/7uvLC8gs17DvDIddP6zFSiPdXfZ5iLJEF8B/hPoBF4FlgI3BnLoIzpTI4v87BLkwNyfZn8exejjKoqB5paqWtoprbeSRjByaRjcqlraDkiOQT0xYsZGppbue8fmygp8HHOiaO9Dsdz/b1hLpIE8QVV/U+cJAGAiFyBU2Q2Ju5mzyg87JQPRF47EhGGDExjyMA0xmZHtr/pd78ZMiH1xYsZnlm8lR21Dfz6K0V9airR3phS4OO5peU0t7b1uxGGI3m3R/QqhFlmTFxcUpLLXZedTK4vE8E5crjrspNjdrqnr1/MEFyA/+Ur6ykcM4TTj+17U4n2VKBhbv32Wq9DibuwRxAi8nmcukCuiNwf9FQWTvHYGM/Es3Z06GKGDVT6Gxg0IJVfXhq7hBRPHQvwqrBl70EWlFX2ifcXDYGGubJyP5PzfN4GE2edHUFUActwrjZaHnT7KzAj9qEZkzguKcnlvdvP5nOFo8gbltlnPjxDjSbQ2GKjCQTrzw1zYY8gVHUlsFJEnnUb1ozp94ryfbz14W72N7YwZGDyT8hoowl0rT83zEVSgxgvIi+IyDoR+SRwi3lkxiSg4nwfqrCqwu91KFFhowlEpr82zEWSIJ4AHsCpO3wOeAp4OpZBGZOoivN9AKzY5vc0jmjp6wX4aJkyzgf0v4H7IkkQmar6BiCqulVV78AZJsOYfsc3aADjRwxiZR9JEJeU5PLTL05sfxzrK8KS1Uk5/XOGuUhOojaISAqwSURuASoB66Ax/VZxvo/3P9nrdRhRU+DOMf3EV0/hc4X2px1Kf22Yi+QI4ns4k/Z8F2eYjGuB62IYkzEJrSjfx87aRnbUNHgdSlQEvhVPyR/mcSSJrT/OMNdlglDVD1R1v6pWqOpXgS8Dx8U+NGMS06E6RN843VBW7ufYUYPJHtS/Zozrrv7YMBc2QYhIlojMEZHfich54rgF+AgnSRjTL03MySI9VSjrA3UIVaVsm5+SAjt66Epww1x/0dkRxNNAIbAa+BrwGnAFcImqXhyH2IxJSAPTUpk4NqtPFKq37D3IvgNNTLEE0aX+2DDXWZH6GFU9GUBEHgX2AAWq2n9n8DbGVZzv44XlFbS2aVIPiV261a0/uJdxmvD6Y8NcZ0cQ7d3TqtqKMw2oJQdjcArVB5pa+WjXfq9D6ZWybdUMGZjG8aOHeh1KUuhvDXOdJYgiEal1b3XA5MB9Eek/VRpjQugrherSrX6K831JfRQUT/2tYS5sglDVVFXNcm9DVTUt6H5WPIM0JtEcPXIwWRlpSd1RfaCxhQ07atun1TRd628Nc/1r9gtjokREKMr3sWJbjdeh9NjKCj9tihWou6G/NcxZgjCmh0ryfWzcUcvBpuScHiVwuaYdQXRPf2qYswRhTA8V5ftoU1hTmZwlubLyao4ZNRjfoAFeh5JU+lPDXEQJQkTGicg57v1MEbFLHky/l8yFalWltNxPiQ2v0W2BhrnAJcJ9WZcJQkRuAl4AHnIX5QELYhiTMUlhxJCB5A/PTMpC9dZAg5z1P3RboGGuL3TSdyWSI4hvA9OBWgBV3YSN5moMAEV5PlYmYaG6fYA+K1B3W39qmIskQTSqalPggYikARq7kIxJHsX5Pir99eyqS66RXcvK/QwZmMYJY+xscU/0l4a5SBLE2yLyIyBTRM4F/gS8FNuwjEkOgTpEsh1FlJZXU5SfbQ1yPdRfGuYiSRC3A7txBu37OvAK8F+xDMqYZDEpN5u0FEmqQvXBphY27KizAnUv9JeGuS5nlFPVNuAR92aMCZKRnsqEsUOTqlC9clsNrW1qBepe6C8Nc10mCBFZzZE1hxpgGfDfqtp35l40pgeK8nz8dUUVbW1KShKcsgl867UjiN6ZUuDjuaXlNLe2kZ7aN1vKInlXfwf+Blzt3l4C3gF2APNiFpkxSaI430ddYwuf7EmOkV3Lyv0cM3IwwwZbg1xv9IeGuS6PIIDpqjo96PFqEXlPVaeLyDWxCsyYZHGoYa6G4xJ82GxVpay8mjMLR3kdStILbpibnOfzJIYFZZXMXbiRKn89Ob5MZs8o5JKS3KhtP5IjiCEi8qnAAxE5FRjiPkzOQWiMiaJjRw1h6MC0pChUl+87yF6bQS4qDs0w5/dk/wvKKpkzfzWV/noUqPTXM2f+ahaUVUZtH5EkiK8Bj4rIZhHZAjwK3CQig4G7ohaJMUkqJUWYnJ+dFIVqa5CLnkDDXJlHXwzmLtxIfXPrYcvqm1uZu3Bj1PbRZYJQ1Q/cqUeLgWJVnayqS1X1gKo+H7VIjEliRXk+Nmyvo6HDH2yiKSv3M3hAKoVHJfapsGThZcNclb++W8t7IpKrmAYClwPjgTQR5yoNVf151KIwJskV5/toaVPWVtUwddxwr8MJy2mQsxnkoiW4YW7GSUfFbb+rKvyIgIYY0yLHlxm1/URyiukvwMU49YYDQTdjjCu4UJ2oDja1sH57nc3/EEVeNMz9Y91OvvLQYrIz0xmYdvhHeGZ6KrNnFEZtX5FcxZSnqudHbY/G9EGjszLIyc5I6DrEqgq3Qc7qD1ET74a5Jxdt4WcvrWVSbjaPzTqF9z7aE9OrmCJJEItE5GRVXd2dDYvI48CFwC5VneQuKwYeBDJwjki+papLQ7zWh1MMn4TTpHeDqr7fnf0bE2/FBb6EvpLp0AxyliCiKR4Nc21tyi9fWc+j/9rMuRPHcN+VxQwakMYlJblRTQgdRfJuzgCWi8hGEVklIqtFZFUEr5sHdDzy+BXwM1UtBn7iPg7lPuBVVZ0AFAHrI9ifMZ4qyvOxbV89e/cn5gifpeXVHD1yMMOtQS6qYt0w19DcyrefLeXRf23m+tPH8+A1Uxk0IJLv9r0XyV4+35MNq+o7IjK+42Igy72fDVR1fJ2IZAGfAa53t9MENHVcz5hE0z6ya4WfsyaM8TaYDgINcp853hrkoi2WDXN79zdy01PLKNvm58cXTuTGM46O6va7EsllrltVdStQj/MBH7j1xPeAuSKyDbgHmBNinWNwRo99QkTKRORRt+ciJBG5WUSWiciy3bt39zAsY3pvUm42KZKYhept++rZs7+JknF2einaYtUw98nu/Vz2wCLWVtXywNVT4p4cILIpRy8SkU3AZuBtYAvO+Ew98U3gNlXNB24DHguxThowBXhAVUtwrpi6PdwGVfVhVZ2mqtNGjbJvR8Y7g90JeBKxUH2oQc7nbSB9UCxmmFu2ZR+XPbCIuoYWnrv5NM6fNDZq2+6OSGoQdwKnAR+q6tHA2cB7PdzfLGC+e/9PwKkh1qkAKlR1ifv4BZyEYUzCKynwsXKbHw11gbqHysqrGTQglUKbQS4mphQMo6I6OjMLvryqiqseXcKwQQP487dO9/Sqs0gSRLM7pHeKiKSo6j9xuqp7ogo4071/FrCp4wqqugPYJiKBi3nPBtb1cH/GxFVRno+a+ma27D3odSiHKS33U5TnI62PDkvttUDDXFkvTjOpKg++/TG3PFvG5Nxs5n/zdMaNCHt2PS4i+W3xi8gQnCG+/yAi9xHBIH0i8hzwPlAoIhUiciNwE3CviKwEfgnc7K6bIyKvBL38O+6+VuEko1924z0Z45li9xROIl3uWt/UyvrttdYgF0O9bZhraW3jvxas4e6/b+ALk8fyzNc+lRDDsUdyFdPFQANOzeBqnKuPuhxmQ1Vnhnlqaoh1q4ALgh6vAKZFEJsxCeX40UMZNCCVldtquLQkz+twAGdYhhZrkIupjPRUTuphw9yBxhZuebaUf27czTfOPJYfzChMmImnIplyNHhYjSdjGIsxSS81RTg5N5uyBCpUB2KxI4jYKulBw9zO2gZumPcB67fX8otLJ3H1p8bFOMruieQqpstEZJOI1IhIrYjUiUjfnULJmF4qLvCxvqqWxpbEGNm1dGs140cMYsSQgV6H0qd1t2Fu4446Lv39e2zec4DHZp2ScMkBIqtB/Aq4SFWzVTVLVYeqalaXrzKmnyrO89HU2sb67XVeh4KqUlrut+E14iC4Ya4r7320hy89sIiWNuX5r3+az00YHevweiSSBLFTVW2oC2Mi1F6ojuMIn+FUVNezZ3+j9T/EQaQNcy8sr2DW40sZ68vgz9+ezqTc7PgE2ANhaxAicpl7d5mI/D9gAdA+yIyqzg/1OmP6u6OyMhg9dCArK7zvqA5cVWNHELHXVcOcqvKbf2zivjc2Mf24ETxwzVSyMtLjHGX3dFak/mLQ/YPAeUGPlUMNb8aYICJCcb4vITqqy8r9ZKanMsFmkIuLKQXD+PuaHeyqa2D00Iz25U0tbcyZv5oXSyu4fEoed112MgPSEr8nJWyCUNWvxjMQY/qS4gIfr63bif9gE75B3l3PXlpezeS8bGuQi5PghrnADHM19c1885nlLPp4L7edcwLfPfs4AjNzJrpIrmJ60p2fIfB4mDvXgzEmjGJ3VE8vTzM1NLeyrqq2vXhqYq9jw1ylv54rHlzE0s37uPeKIm495/ikSQ4QWaPcZFX1Bx6oarWIlMQuJGOS38l52YjAinI/Z57gzSCSqypqrEEuzl5dswOAh97+hPmllTQ0tYAIT91wKqcfN9Lj6LovkuPOFBFp/w0TkeFElliM6beGZqRz3KghrKzwexZDWXuB2udZDP3JgrJK5sxfTXOrM1Dj7rpG9je28q3PHpuUyQEiSxD34kw7eqeI/BxYBMyNbVjGJL9AodqrkV1Ly6sZN2IQI61BLi7mLtxIffPhzZEKPLO43JuAoiCSCYOeAr4E7MSZyOcyd5kxphPFBT72HWhi2776uO+7vUHOneXOxF6VP/T/c7jlySCSIvWNqrpWVX+nqr8FNorIT+MQmzFJrcgtVK/w4DRTRXU9u+sarUAdRzm+zG4tTwaRnGI6W0ReEZGxIjIJWAzYRdXGdKHwqKFkpKewIspTUUYiMECfFajjZ/aMQjLTUw9blpmeyuwZhWFekfgiGc31KhH5CrAap2Fupqr2dEY5Y/qN9NQUJuVke1KoLt1aTUZ6ijXIxdElJbmAU4uo8teT48tk9ozC9uXJqMsEISLHA7cCLwInAteKSJmqJtaUWcYkoOJ8H08v3tqtIaCjoay8msk2g1zcXVKSm9QJoaNIfnteAn6sql/HmS50E/BBTKMypo8oLvDR2NLGhjiO7NrQ3Mraqlo7vWR6LZIEcaqqvgGgjnuBS2IalTF9hBeF6tWVgQY5X9z2afqmsAlCRH4AoKq1InJFh6dtnCZjIpA3LJORQwbEtVAdaJCzK5hMb3V2BHFl0P05HZ47PwaxGNPniAhFeb64FqpLt/opGG4Ncqb3OksQEuZ+qMfGmDCK8318vHs/tQ3NMd+X0yBXbcNrmKjoLEFomPuhHhtjwigu8KEKq7bFfmTXSn89u+oarUBtoqKzy1yLRKQW52gh072P+zgj/MuMMcEmtw/97eeM42M7aFuZW+uwBGGiobMJg1LDPWeMiVx2ZjrHjBrc/uEdS6XlboPcWGuQM71nXTTGxEFxXnxGdi0t9zM51xfXpjzTd9lvkTFxUFzgY8/+RqpqGmK2D2cGuRpK3GkvjektSxDGxEGxO+x2LPsh1lTW0NxqM8iZ6LEEYUwcTDgqiwFpKTHth7ACtYk2SxDGxMGAtBROysmK6RFEaXk1+cMzGTXUGuRMdFiCMCZOivJ8zjhJrW1R33Z7g1y+HT2Y6LEEYUyclBT4qG9u5cOd+6O+7aqaBnbWNtoAfSaqLEEYEyfthWp3trdosgH6TCxYgjAmTgqGD2LYoHRWxiBBlG71MzAthRPHZkV926b/sgRhTJyICEX5vpgcQZSWVzM5L9sa5ExU2W+TMXFUlOfjw1117G9sido2nRnkauzyVhN1liCMiaPAyK6rK6I3suvaKqdBrsQShIkySxDGxFFxYArSKJ5mam+QsyE2TJTFLEGIyOMisktE1gQtKxaRxSKyQkSWicipnbw+VUTKROTlWMVoTLwNGzyAcSMGRbVQXVpeTd6wTEYPtVH4TXTF8ghiHkdOTfor4GeqWgz8xH0czq3A+phEZoyHiqNcqC7d6rfTSyYmYpYgVPUdYF/HxUDgOrxsoCrUa0UkD/gC8Gis4jPGK0V5PnbUNrAjCiO7Vvnr2VHbYA1yJiY6m1EuFr4HLBSRe3CS0+lh1vsN8APAZj0xfU6x+2G+Ypuf87OP6tW2bIA+E0vxLlJ/E7hNVfOB24DHOq4gIhcCu1R1eSQbFJGb3XrGst27d0c3WmNiYOLYLNJTJSqnmUrLq61BzsRMvBPELGC+e/9PQKgi9XTgIhHZAvwROEtEngm3QVV9WFWnqeq0UaNGRTteY6IuIz2VE8dmRaVQXVpezcm52QxIswsSTfTF+7eqCjjTvX8WsKnjCqo6R1XzVHU8cCXwpqpeE78QjYm94nwfqyr8tLb1fArSxpZW1lbW2vhLJmZieZnrc8D7QKGIVIjIjcBNwL0ishL4JXCzu26OiLwSq1iMSTRFeT4ONLXy8e6ej+y6tqqWptY2K1CbmIlZkVpVZ4Z5amqIdauAC0Isfwt4K6qBGZMA2gvV5X5OGNOzazFKt7ojuFqB2sSInbg0xgNHjxhMVkYaZb2oQ5SV+8n1ZTI6yxrkTGxYgjDGAykpzsiuvSlUl5ZXU2Knl0wMWYIwxiPF+T427qyjvqm126/dXlPP9poGO71kYsoShDEeKcrz0dqmrKnq/siuhwboswRhYscShDEeCS5Ud1fp1moGpKUw0RrkTAxZgjDGIyOHDCRvWGaPOqqtQc7Eg/12GeOhnkxB2tjSyprKWut/MDFnCcIYD5Xk+6j017O7rjHi16xrb5Cz+oOJLUsQxnioKN8H0K3LXUutQG3ixBKEMR6alJNNakr3RnYtLa8m15fJGGuQMzFmCcIYD2UOSGXCUUO7lSDKtla3XwFlTCxZgjDGY0X5PlZW+GmLYGTXHTUNVFmDnIkTSxDGeKw430ddQwuf7DnQ5bpl5YEB+nwxjsoYSxDGeK64G4Xq0nKnQe6knOzYBmUMliCM8dyxo4YwZGBaRHWI0nI/k3KyrEHOxIX9lhnjsdQUYXJedpcJoqmljdWVNVZ/MHFjCcKYBFCU72P99loamsOP7Lpuey1NLW3W/2DixhKEMQmgON9HS5uytqo27Do2g5yJN0sQxiSASArVpeXV5GRncFS2NciZ+LAEYUwCGJOVwdjsjE7rEGXlfkrs6MHEkSUIYxJEcScju+6sbaDSX29TjJq4sgRhTIIoyvdRvu8g+w40HfFce4OcFahNHFmCMCZBdFaHKC33MyA1hZNybAY5Ez+WIIxJECfnZpMihDzNVLq1mpNysxiYlhr/wEy/ZQnCmAQxeGAaJ4w5cmTXppY2VlmDnPGAJQhjEkixO7Kr6qGRXdcHGuQsQZg4swRhTAIpyvfhP9jM1r0H25eVtheofR5FZforSxDGJJBAoTr4NFNpuZ+x2RmMzc70JijTb1mCMCaBHD96CJnpqYcniK3V1v9gPGEJwpgEkpaawslBI7vuchvkrP5gvGAJwpgEU5LvY11VLY0trZSW+51lliCMByxBGJNgivJ9NLW2sWF7HWXl1QxITWFSrjXImfizBGFMggkuVJeWVzMxxxrkjDcsQRiTYMZmZzBq6EA+2LKPVRXWIGe8k+Z1AMaYw4kIxfk+Xlu3051Bzud1SKafsiMIYxLQgFShqaUNgDtfXseCskqPIzL9kSUIYxLMgrJKXl+3q/3xztpG5sxfbUnCxJ0lCGMSzNyFG2lqbTtsWX1zK3MXbvQoItNfxSxBiMjjIrJLRNYELSsWkcUiskJElonIqSFely8i/xSR9SKyVkRujVWMxiSiKn99t5YbEyuxPIKYB5zfYdmvgJ+pajHwE/dxRy3A91X1ROA04NsiMjGGcRqTUHJ8ocdcCrfcmFiJWYJQ1XeAfR0XA4GOn2ygKsTrtqtqqXu/DlgP5MYqTmMSzewZhWSmH973kJmeyuwZhR5FZPqreF/m+j1goYjcg5OcTu9sZREZD5QASzpZ52bgZoCCgoJoxWmMZy4pcb4PzV24kSp/PTm+TGbPKGxfbky8SPDEJFHfuPMB/7KqTnIf3w+8raovisiXgZtV9Zwwrx0CvA38QlXnR7K/adOm6bJly6ITvDHG9AMislxVp4V6Lt5XMc0CAh/2fwKOKFIDiEg68CLwh0iTgzHGmOiKd4KoAs50758FbOq4gogI8BiwXlV/HcfYjDHGBInlZa7PAe8DhSJSISI3AjcB94rISuCXuLUDEckRkVfcl04HrgXOci+HXSEiF8QqTmOMMaHFrEitqjPDPDU1xLpVwAXu/X8BEqu4jDHGRMY6qY0xxoQU06uY4k1EdgNbvY4jAiOBPV4HEUN9+f3Ze0teffn99ea9jVPVUaGe6FMJIlmIyLJwl5X1BX35/dl7S159+f3F6r3ZKSZjjDEhWYIwxhgTkiUIbzzsdQAx1pffn7235NWX319M3pvVIIwxxoRkRxDGGGNCsgRhjDEmJEsQcdQfZssTkVQRKRORl72OJdpExCciL4jIBvf/8NNexxQtInKb+zu5RkSeE5EMr2PqjTAzWg4XkddFZJP77zAvY+ypMO9trvt7uUpE/iwivmjsyxJEfPWH2fJuxZnkqS+6D3hVVScARfSR9ykiucB3gWnu0PypwJXeRtVr8zhyRsvbgTdU9XjgDfdxMprHke/tdWCSqk4GPgTmRGNHliDiqK/PliciecAXgEe9jiXaRCQL+AzOSMOoapOq+j0NKrrSgEwRSQMGEWK2x2QSZkbLi4En3ftPApfEM6ZoCfXeVPU1VW1xHy4G8qKxL0sQHolktrwk9BvgB0Cbx3HEwjHAbuAJ9xTaoyIy2OugokFVK4F7gHJgO1Cjqq95G1VMjFHV7eB8WQNGexxPrNwA/D0aG7IE4QF3trwXge+paq3X8USDiFwI7FLV5V7HEiNpwBTgAVUtAQ6QvKcoDuOei78YOBrIAQaLyDXeRmV6QkT+E+dU9h+isT1LEHHWh2fLmw5cJCJbgD/izOfxjLchRVUFUKGqgSO+F3ASRl9wDrBZVXerajPOrI+dzhefpHaKyFgA999dHscTVSIyC7gQuFqj1OBmCSKO+vJseao6R1XzVHU8ToHzTVXtM99CVXUHsE1ECt1FZwPrPAwpmsqB00RkkPs7ejZ9pADfwV9xpj3G/fcvHsYSVSJyPvBD4CJVPRit7VqCiC+bLS+5fQf4g4isAopxZkVMeu5R0QtAKbAa53MhqYelCDOj5d3AuSKyCTjXfZx0wry33wFDgdfdz5UHo7IvG2rDGGNMKHYEYYwxJiRLEMYYY0KyBGGMMSYkSxDGGGNCsgRhjDEmJEsQxkRIRFREng56nCYiu3s6cq07Ouy3gh5/ti+OgmuSlyUIYyJ3AJgkIpnu43OByl5szwd8q6uVjPGKJQhjuufvOCPWAswEngs84c43sMAdk3+xiEx2l9/hjuH/loh8IiLfdV9yN3Cs29g01102JGjOiT+4nc3GeMIShDHd80fgSndCnckcPhrvz4Ayd0z+HwFPBT03AZgBnAr81B2T63bgY1UtVtXZ7nolwPeAiTgjyE6P4XsxplOWIIzpBlVdBYzHOXp4pcPTZwBPu+u9CYwQkWz3ub+paqOq7sEZJG5MmF0sVdUKVW0DVrj7MsYTaV4HYEwS+ivO/AmfBUYELQ91Oigwlk1j0LJWwv/tRbqeMTFnRxDGdN/jwM9VdXWH5e8AV4NzRRKwp4v5PupwBlgzJiHZtxNjuklVK3Dmp+7oDpwZ51YBBzk0tHS47ewVkffcyef/Dvwt2rEa0xs2mqsxxpiQ7BSTMcaYkCxBGGOMCckShDHGmJAsQRhjjAnJEoQxxpiQLEEYY4wJyRKEMcaYkP4/fUKeRAm6ikE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508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907869"/>
          </a:xfrm>
        </p:spPr>
        <p:txBody>
          <a:bodyPr/>
          <a:lstStyle/>
          <a:p>
            <a:r>
              <a:rPr lang="en-US" dirty="0" smtClean="0"/>
              <a:t>Seasonality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1" y="1743891"/>
            <a:ext cx="10018713" cy="1737361"/>
          </a:xfrm>
        </p:spPr>
        <p:txBody>
          <a:bodyPr/>
          <a:lstStyle/>
          <a:p>
            <a:r>
              <a:rPr lang="en-US" dirty="0" smtClean="0"/>
              <a:t>It was observed that our data lacked a sense of seasonality since for the two years the exchange rates was observed, they did not have full months from January to December 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0929" t="1322" r="-10929" b="-1322"/>
          <a:stretch/>
        </p:blipFill>
        <p:spPr>
          <a:xfrm>
            <a:off x="3069771" y="3056709"/>
            <a:ext cx="5329646" cy="3631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818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5189" y="195943"/>
            <a:ext cx="7289074" cy="1077686"/>
          </a:xfrm>
        </p:spPr>
        <p:txBody>
          <a:bodyPr/>
          <a:lstStyle/>
          <a:p>
            <a:r>
              <a:rPr lang="en-US" dirty="0" smtClean="0"/>
              <a:t>Trend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28002" y="1273629"/>
            <a:ext cx="10115507" cy="311549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H0=to prove the exchange rate mean was non stationary</a:t>
            </a:r>
          </a:p>
          <a:p>
            <a:r>
              <a:rPr lang="en-US" dirty="0" smtClean="0"/>
              <a:t>H1=to prove the exchange rate mean was  stationary</a:t>
            </a:r>
          </a:p>
          <a:p>
            <a:r>
              <a:rPr lang="en-US" dirty="0" smtClean="0"/>
              <a:t>If the </a:t>
            </a:r>
            <a:r>
              <a:rPr lang="en-US" dirty="0" err="1" smtClean="0"/>
              <a:t>pvalues</a:t>
            </a:r>
            <a:r>
              <a:rPr lang="en-US" dirty="0" smtClean="0"/>
              <a:t> &lt;0.05 we accept otherwise we reject the hypothesis</a:t>
            </a:r>
          </a:p>
          <a:p>
            <a:r>
              <a:rPr lang="en-US" dirty="0" err="1" smtClean="0"/>
              <a:t>Augumented</a:t>
            </a:r>
            <a:r>
              <a:rPr lang="en-US" dirty="0" smtClean="0"/>
              <a:t> dickey fuller a statistical method was used to either accept or reject the hypothesis that indeed our exchange rates as much as there is fluctuations the mean was constant.</a:t>
            </a:r>
          </a:p>
          <a:p>
            <a:r>
              <a:rPr lang="en-US" b="1" dirty="0" smtClean="0"/>
              <a:t>Observations: </a:t>
            </a:r>
            <a:r>
              <a:rPr lang="en-US" b="1" dirty="0" err="1" smtClean="0"/>
              <a:t>pvalues</a:t>
            </a:r>
            <a:r>
              <a:rPr lang="en-US" b="1" dirty="0" smtClean="0"/>
              <a:t> was 0.002 which indeed rejects the hypothesis that our values have a constant mean and that supports indeed our data is not affected my seasons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5171" t="1331" r="271" b="-1331"/>
          <a:stretch/>
        </p:blipFill>
        <p:spPr>
          <a:xfrm>
            <a:off x="3851564" y="4389119"/>
            <a:ext cx="4919465" cy="2468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791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Autocorrelation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7745" y="2175164"/>
            <a:ext cx="4197928" cy="35467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305" y="2175164"/>
            <a:ext cx="4151168" cy="3726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876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 2:which model is suitable for the 7 day prediction?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type of problems are we solving</a:t>
            </a:r>
          </a:p>
          <a:p>
            <a:r>
              <a:rPr lang="en-US" dirty="0" smtClean="0"/>
              <a:t>Does it generalize well?</a:t>
            </a:r>
          </a:p>
          <a:p>
            <a:r>
              <a:rPr lang="en-US" dirty="0" smtClean="0"/>
              <a:t>RMSE(is the actual prediction far from the predicted value)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861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6612777"/>
              </p:ext>
            </p:extLst>
          </p:nvPr>
        </p:nvGraphicFramePr>
        <p:xfrm>
          <a:off x="2429666" y="1756755"/>
          <a:ext cx="8127999" cy="45332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5893776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23571612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108447470"/>
                    </a:ext>
                  </a:extLst>
                </a:gridCol>
              </a:tblGrid>
              <a:tr h="586370">
                <a:tc>
                  <a:txBody>
                    <a:bodyPr/>
                    <a:lstStyle/>
                    <a:p>
                      <a:r>
                        <a:rPr lang="en-US" dirty="0" smtClean="0"/>
                        <a:t>Model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rmse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conclusion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343356"/>
                  </a:ext>
                </a:extLst>
              </a:tr>
              <a:tr h="1335677">
                <a:tc>
                  <a:txBody>
                    <a:bodyPr/>
                    <a:lstStyle/>
                    <a:p>
                      <a:r>
                        <a:rPr lang="en-US" dirty="0" smtClean="0"/>
                        <a:t>Linear regression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Train:0.15</a:t>
                      </a:r>
                    </a:p>
                    <a:p>
                      <a:r>
                        <a:rPr lang="en-US" dirty="0" smtClean="0"/>
                        <a:t>Test:0.13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Our</a:t>
                      </a:r>
                      <a:r>
                        <a:rPr lang="en-US" baseline="0" dirty="0" smtClean="0"/>
                        <a:t> data is generalizing well since the train and test results are slightly apart from each other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2335309"/>
                  </a:ext>
                </a:extLst>
              </a:tr>
              <a:tr h="719211">
                <a:tc>
                  <a:txBody>
                    <a:bodyPr/>
                    <a:lstStyle/>
                    <a:p>
                      <a:r>
                        <a:rPr lang="en-US" dirty="0" smtClean="0"/>
                        <a:t>Random forest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Train:0.08</a:t>
                      </a:r>
                    </a:p>
                    <a:p>
                      <a:r>
                        <a:rPr lang="en-US" dirty="0" smtClean="0"/>
                        <a:t>Test:0.15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Our model is overfitting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0456084"/>
                  </a:ext>
                </a:extLst>
              </a:tr>
              <a:tr h="719211">
                <a:tc>
                  <a:txBody>
                    <a:bodyPr/>
                    <a:lstStyle/>
                    <a:p>
                      <a:r>
                        <a:rPr lang="en-US" dirty="0" smtClean="0"/>
                        <a:t>XGBOOST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Train:0.11</a:t>
                      </a:r>
                    </a:p>
                    <a:p>
                      <a:r>
                        <a:rPr lang="en-US" dirty="0" smtClean="0"/>
                        <a:t>Test:0.15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Our model is</a:t>
                      </a:r>
                      <a:r>
                        <a:rPr lang="en-US" baseline="0" dirty="0" smtClean="0"/>
                        <a:t> overfitting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0491341"/>
                  </a:ext>
                </a:extLst>
              </a:tr>
              <a:tr h="5863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8172488"/>
                  </a:ext>
                </a:extLst>
              </a:tr>
              <a:tr h="5863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2086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6895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 And Future Recommendations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was found out that exchange rate is affected by correlation and the best model to use is Linear regression.</a:t>
            </a:r>
          </a:p>
          <a:p>
            <a:r>
              <a:rPr lang="en-US" dirty="0" smtClean="0"/>
              <a:t>For deployment I would use </a:t>
            </a:r>
            <a:r>
              <a:rPr lang="en-US" dirty="0" err="1" smtClean="0"/>
              <a:t>ussd</a:t>
            </a:r>
            <a:r>
              <a:rPr lang="en-US" dirty="0" smtClean="0"/>
              <a:t> codes where the client can just use their phone offline and dial a </a:t>
            </a:r>
            <a:r>
              <a:rPr lang="en-US" dirty="0" err="1" smtClean="0"/>
              <a:t>ussd</a:t>
            </a:r>
            <a:r>
              <a:rPr lang="en-US" dirty="0" smtClean="0"/>
              <a:t> number and check when will be a particular days prediction this helps in planning ahead to avoid loses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56166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266</TotalTime>
  <Words>541</Words>
  <Application>Microsoft Office PowerPoint</Application>
  <PresentationFormat>Widescreen</PresentationFormat>
  <Paragraphs>52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Corbel</vt:lpstr>
      <vt:lpstr>Parallax</vt:lpstr>
      <vt:lpstr>RAND/US EXCHANGE RATE PREDICTION</vt:lpstr>
      <vt:lpstr>INTRODUCTION</vt:lpstr>
      <vt:lpstr>PROBLEM STATEMENT</vt:lpstr>
      <vt:lpstr>OBJECTIVES </vt:lpstr>
      <vt:lpstr>Data Overview </vt:lpstr>
      <vt:lpstr>Objective:1WHAT IS AFFECTING EXCHANGE RATE?</vt:lpstr>
      <vt:lpstr>Seasonality</vt:lpstr>
      <vt:lpstr>Trend</vt:lpstr>
      <vt:lpstr>Autocorrelation</vt:lpstr>
      <vt:lpstr>Objective 2:which model is suitable for the 7 day prediction?</vt:lpstr>
      <vt:lpstr>Models </vt:lpstr>
      <vt:lpstr>Conclusion And Future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RAND/US EXCHANGE RATE PREDICTION</dc:title>
  <dc:creator>user</dc:creator>
  <cp:lastModifiedBy>user</cp:lastModifiedBy>
  <cp:revision>11</cp:revision>
  <dcterms:created xsi:type="dcterms:W3CDTF">2026-02-26T09:12:42Z</dcterms:created>
  <dcterms:modified xsi:type="dcterms:W3CDTF">2026-02-26T13:38:54Z</dcterms:modified>
</cp:coreProperties>
</file>